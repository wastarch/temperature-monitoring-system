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3.svg" ContentType="image/svg+xml"/>
  <Override PartName="/ppt/media/image57.svg" ContentType="image/svg+xml"/>
  <Override PartName="/ppt/media/image59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8.svg" ContentType="image/svg+xml"/>
  <Override PartName="/ppt/media/image80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</p:sldMasterIdLst>
  <p:notesMasterIdLst>
    <p:notesMasterId r:id="rId15"/>
  </p:notesMasterIdLst>
  <p:sldIdLst>
    <p:sldId id="256" r:id="rId14"/>
    <p:sldId id="257" r:id="rId16"/>
    <p:sldId id="258" r:id="rId17"/>
    <p:sldId id="259" r:id="rId18"/>
    <p:sldId id="260" r:id="rId19"/>
    <p:sldId id="261" r:id="rId20"/>
    <p:sldId id="277" r:id="rId21"/>
    <p:sldId id="280" r:id="rId22"/>
    <p:sldId id="281" r:id="rId23"/>
    <p:sldId id="282" r:id="rId24"/>
    <p:sldId id="284" r:id="rId25"/>
    <p:sldId id="279" r:id="rId26"/>
    <p:sldId id="285" r:id="rId27"/>
    <p:sldId id="278" r:id="rId28"/>
    <p:sldId id="276" r:id="rId29"/>
    <p:sldId id="265" r:id="rId30"/>
    <p:sldId id="266" r:id="rId31"/>
    <p:sldId id="267" r:id="rId32"/>
    <p:sldId id="268" r:id="rId33"/>
    <p:sldId id="286" r:id="rId34"/>
    <p:sldId id="270" r:id="rId35"/>
    <p:sldId id="271" r:id="rId36"/>
    <p:sldId id="272" r:id="rId37"/>
    <p:sldId id="273" r:id="rId38"/>
    <p:sldId id="274" r:id="rId39"/>
    <p:sldId id="275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6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6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《Python上位机开发基础》课程。在接下来的时间里，我们将一起探索如何利用Python这门强大的语言，开发面向光电领域的专业上位机软件。本课程将涵盖从环境搭建、仪器通信到GUI界面开发的全过程，帮助大家掌握一套完整的解决方案。无论你是学生还是工程师，这都将是一次极具价值的学习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三个核心部分。首先，我们将从Python的基础知识和开发环境搭建开始，确保大家有一个坚实的起点。接着，我们会深入探讨仪器通信的各种方式，这是上位机开发的核心。最后，我们将学习如何使用PyQt开发专业的图形用户界面，并完成一个实战项目。课程最后还会提供丰富的学习资源和命令速查表，帮助大家持续学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让我们从第一讲开始，首先了解Python的起源和发展。Python由吉多·范罗苏姆于1989年发明，并在1991年正式发布。经过三十多年的发展，它已经从一个简单的脚本语言成长为一个功能强大的生态系统。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大家请看左侧的时间轴，从1991年的0.9.0版本到2024年最新的3.13版本，每一次的迭代都代表着Python在功能和性能上的飞跃。特别是2020年2.7版本停止维护，标志着我们正式全面进入了Python 3的时代。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右侧展示的是Python之所以广受欢迎的核心理念——“Python之禅”。它强调代码的可读性、简洁性和明确性。这些设计哲学让Python代码非常容易阅读和维护，这也是它在科学计算、数据分析和仪器控制等领域能够快速普及的重要原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光电领域，Python几乎无处不在。从底层的仪器自动化控制，到上层的数据处理和可视化，Python都扮演着关键角色。例如，我们可以用它来自动控制光谱仪采集数据，然后实时进行处理和绘图。更前沿的应用包括结合深度学习进行图像识别和质量控制。Python丰富的库生态，如NumPy, SciPy, Matplotlib，极大地简化了这些复杂任务的实现。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选择Python而不是其他语言呢？这张对比表清晰地展示了Python、MATLAB和C/C++在不同维度的特点。Python兼具了低学习门槛、快速开发和强大的生态系统，特别是在GUI开发方面，PyQt提供了工业级的解决方案。相比之下，MATLAB成本高昂，而C/C++开发周期长。因此，在现代仪器开发中，一个常见的最佳实践是：用C语言编写对实时性要求高的下位机程序，而用Python编写功能丰富、易于维护的上位机软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快速回顾一下Python的基本语法。Python是一种动态类型语言，这意味着你不需要提前声明变量的类型。比如这里的name是字符串，wavelength是浮点数。同时，它也是强类型的，确保了运算的安全性。最具特色的是，Python使用缩进来组织代码块，这强制开发者写出结构清晰、易于阅读的代码。这些特性共同构成了Python简洁优雅的编程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一个好的开发环境至关重要。我们推荐使用`uv`作为Python的包管理器。它是一个新兴的工具，相比大家熟悉的pip，它的安装速度有了数量级的提升，并且内置了虚拟环境管理功能，可以极大地简化我们的开发流程。安装过程非常简单，只需一行命令，就能在你的系统上配置好这个强大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一个好的开发环境至关重要。我们推荐使用`uv`作为Python的包管理器。它是一个新兴的工具，相比大家熟悉的pip，它的安装速度有了数量级的提升，并且内置了虚拟环境管理功能，可以极大地简化我们的开发流程。安装过程非常简单，只需一行命令，就能在你的系统上配置好这个强大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最主要的理由是解决版本冲突。假设你手上有两个项目：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需要使用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OpenCV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1.0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需要使用最新的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OpenCV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4.0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版本。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如果直接在系统中安装，你只能装一个版本，另一个项目就会因为版本不对而报错。有了虚拟环境，你可以为项目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创建一个环境装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OpenCV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1.0，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为项目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创建另一个环境装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OpenCV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4.0，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它们互不干扰。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此外，使用虚拟环境还能：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保持系统环境干净：避免因为安装各种项目依赖而导致系统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Python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环境臃肿或出现问题。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明确项目依赖：每个虚拟环境都有一个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requirements.txt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文件来记录项目精确的依赖包列表，方便在其他电脑上复现。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方便协作和管理：团队成员可以快速为同一个项目创建出完全一样的依赖环境。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工欲善其事，必先利其器。一个好的开发环境至关重要。我们推荐使用`uv`作为Python的包管理器。它是一个新兴的工具，相比大家熟悉的pip，它的安装速度有了数量级的提升，并且内置了虚拟环境管理功能，可以极大地简化我们的开发流程。安装过程非常简单，只需一行命令，就能在你的系统上配置好这个强大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来验证一下环境是否配置成功。这是一个简单的Python脚本，它使用numpy生成模拟的光谱数据，然后用matplotlib绘制出来。大家可以看到，代码非常直观。如果你的环境配置正确，运行这段代码后，应该会弹出一个包含类似右图所示曲线的窗口。这标志着我们的基础开发环境已经准备就绪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入第二讲，我们来谈谈仪器通信的基础。首先要理解上位机和下位机的概念。简单来说，上位机就是我们在电脑上运行的控制软件，而下位机是连接着各种传感器和执行器的嵌入式硬件。上位机开发的核心，就是建立两者之间可靠、高效的数据交换。一个典型的流程是：上位机发送控制指令，下位机执行并返回结果，上位机再对结果进行处理和显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实现上位机和下位机通信需要物理接口。这里列举了几种最常见的通信接口。串口，特别是RS-232和RS-485，是工业控制中最经典的选择，稳定可靠。USB接口因其高速和便捷性，在现代设备中越来越常见。而TCP/IP则通过网络实现了更灵活的连接。GPIB虽然古老，但在一些老款精密仪器上仍在使用。选择哪种接口，取决于具体的应用场景和设备支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以最常用的串口通信为例，看看如何用Python实现。`pyserial`库是Python串口通信的标准库。在打开串口时，我们需要指定端口号和波特率等关键参数，这些参数必须与下位机设置完全一致。数据的发送和接收都以字节(bytes)为单位，因此需要进行编码和解码。这段代码展示了一个完整的通信流程：打开串口、发送指令、读取响应、关闭串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1. 为什么不能只发原始数据？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假设你想通过串口给对方发送一个数字 10（十六进制是 0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x0A）。</a:t>
            </a: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如果你直接发送 0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x0A，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接收方收到后，就会面临一个“灵魂拷问”：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这真的只是一个数据 10 吗？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还是说，这是上一个数据包的结尾？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或者，这其实是线路干扰产生的噪声？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altLang="zh-CN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根本原因：串口通讯本质上只发送“字节流”（一堆0和1）。它自己不知道哪里是头、哪里是尾，也无法判断数据是否被干扰。如果没有规则，接收方就会把收到的所有东西胡乱拼在一起，导致通讯混乱。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现在我们进入第三讲，也是最有趣的部分：GUI开发。一个好的上位机离不开一个直观友好的图形界面。它能将复杂的操作封装起来，让任何人都能轻松使用。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首先，为什么需要GUI？它不仅仅是好看，更重要的是提供了可视化的操作方式，极大降低了仪器使用门槛，并实现了数据的实时监控和反馈。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在Python领域，我们有多种GUI框架可以选择。大家可以看到，左侧是几个主流框架的对比：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Tkinter：是Python内置的，优点是轻量、入门快，但界面风格偏旧，很难做出专业的工业软件。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PySide：虽然开源协议很友好，但是在国内的中文资料相对较少。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PyQt：这是我们的最终选择。虽然学习曲线会稍微陡峭一点，但是它功能极其强大，支持跨平台，拥有丰富的控件和成熟的生态，能完美满足我们开发专业、复杂上位机软件的需求。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yQt的核心是其独特的“信号与槽”机制。你可以把它想象成一个事件驱动系统。比如，当用户点击一个按钮时，按钮会发出一个`clicked`信号。我们可以将这个信号连接到我们自己定义的一个函数（槽）上，比如`on_button_clicked`。这样，每次按钮被点击，我们的函数就会被自动调用。这种机制使得界面逻辑和业务逻辑可以很好地分离，代码结构非常清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结合实践，我们来看一个光电仪器上位机的设计方案。一个典型的上位机界面可以分为四个功能模块：负责连接设备的通信区，设置参数的控制区，实时显示数据的显示区，以及管理数据的保存区。在实现时，我们需要特别注意两点：第一，数据采集必须放在独立的线程（QThread）中，防止长时间操作导致界面冻结；第二，使用PyQtGraph这样的高性能绘图库来实现数据的实时可视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提供一些学习资源和进阶方向。官方文档是最好的老师，同时B站等平台也有很多优质的免费教程。学完基础后，你可以尝试更前沿的方向，比如将深度学习用于数据分析，或者开发可以通过网页访问的上位机。甚至可以将Python程序部署到树莓派这样的嵌入式设备上，打造更紧凑的控制系统。希望这些内容能为你未来的探索提供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这里是一个常用命令的速查表，涵盖了uv包管理、pip备用命令以及VS Code的快捷键。大家可以截图保存，在日常开发中快速查阅，提高效率。熟练使用这些命令和快捷键是成为高效开发者的必经之路。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大家对今天的内容有什么疑问，或者对Python上位机开发有任何想交流的，都欢迎提出来。希望这次课程能为大家打开一扇新的大门，在未来的项目中能够学以致用。谢谢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5.svg"/><Relationship Id="rId12" Type="http://schemas.openxmlformats.org/officeDocument/2006/relationships/image" Target="../media/image14.png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6.jpeg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3.jpe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5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9.svg"/><Relationship Id="rId14" Type="http://schemas.openxmlformats.org/officeDocument/2006/relationships/image" Target="../media/image18.png"/><Relationship Id="rId13" Type="http://schemas.openxmlformats.org/officeDocument/2006/relationships/tags" Target="../tags/tag9.xml"/><Relationship Id="rId12" Type="http://schemas.openxmlformats.org/officeDocument/2006/relationships/image" Target="../media/image17.jpeg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8.xml"/><Relationship Id="rId15" Type="http://schemas.openxmlformats.org/officeDocument/2006/relationships/image" Target="../media/image25.svg"/><Relationship Id="rId14" Type="http://schemas.openxmlformats.org/officeDocument/2006/relationships/image" Target="../media/image24.png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image" Target="../media/image23.sv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9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1.xml"/><Relationship Id="rId2" Type="http://schemas.openxmlformats.org/officeDocument/2006/relationships/tags" Target="../tags/tag20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3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0.jpe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51.jpe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4" Type="http://schemas.openxmlformats.org/officeDocument/2006/relationships/notesSlide" Target="../notesSlides/notesSlide19.xml"/><Relationship Id="rId23" Type="http://schemas.openxmlformats.org/officeDocument/2006/relationships/slideLayout" Target="../slideLayouts/slideLayout12.xml"/><Relationship Id="rId22" Type="http://schemas.openxmlformats.org/officeDocument/2006/relationships/tags" Target="../tags/tag33.xml"/><Relationship Id="rId21" Type="http://schemas.openxmlformats.org/officeDocument/2006/relationships/image" Target="../media/image62.svg"/><Relationship Id="rId20" Type="http://schemas.openxmlformats.org/officeDocument/2006/relationships/image" Target="../media/image61.png"/><Relationship Id="rId2" Type="http://schemas.openxmlformats.org/officeDocument/2006/relationships/tags" Target="../tags/tag21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image" Target="../media/image23.svg"/><Relationship Id="rId15" Type="http://schemas.openxmlformats.org/officeDocument/2006/relationships/image" Target="../media/image60.png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image" Target="../media/image59.svg"/><Relationship Id="rId10" Type="http://schemas.openxmlformats.org/officeDocument/2006/relationships/image" Target="../media/image58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2.xml"/><Relationship Id="rId2" Type="http://schemas.openxmlformats.org/officeDocument/2006/relationships/tags" Target="../tags/tag34.xml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8.jpeg"/><Relationship Id="rId7" Type="http://schemas.openxmlformats.org/officeDocument/2006/relationships/image" Target="../media/image13.svg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0" Type="http://schemas.openxmlformats.org/officeDocument/2006/relationships/notesSlide" Target="../notesSlides/notesSlide21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3.svg"/><Relationship Id="rId6" Type="http://schemas.openxmlformats.org/officeDocument/2006/relationships/image" Target="../media/image72.png"/><Relationship Id="rId5" Type="http://schemas.openxmlformats.org/officeDocument/2006/relationships/image" Target="../media/image71.svg"/><Relationship Id="rId4" Type="http://schemas.openxmlformats.org/officeDocument/2006/relationships/image" Target="../media/image70.png"/><Relationship Id="rId3" Type="http://schemas.openxmlformats.org/officeDocument/2006/relationships/image" Target="../media/image69.svg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image" Target="../media/image75.svg"/><Relationship Id="rId4" Type="http://schemas.openxmlformats.org/officeDocument/2006/relationships/image" Target="../media/image74.png"/><Relationship Id="rId3" Type="http://schemas.openxmlformats.org/officeDocument/2006/relationships/tags" Target="../tags/tag36.xml"/><Relationship Id="rId28" Type="http://schemas.openxmlformats.org/officeDocument/2006/relationships/notesSlide" Target="../notesSlides/notesSlide23.xml"/><Relationship Id="rId27" Type="http://schemas.openxmlformats.org/officeDocument/2006/relationships/slideLayout" Target="../slideLayouts/slideLayout12.xml"/><Relationship Id="rId26" Type="http://schemas.openxmlformats.org/officeDocument/2006/relationships/image" Target="../media/image81.jpeg"/><Relationship Id="rId25" Type="http://schemas.openxmlformats.org/officeDocument/2006/relationships/tags" Target="../tags/tag50.xml"/><Relationship Id="rId24" Type="http://schemas.openxmlformats.org/officeDocument/2006/relationships/tags" Target="../tags/tag49.xml"/><Relationship Id="rId23" Type="http://schemas.openxmlformats.org/officeDocument/2006/relationships/image" Target="../media/image80.svg"/><Relationship Id="rId22" Type="http://schemas.openxmlformats.org/officeDocument/2006/relationships/image" Target="../media/image79.png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5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image" Target="../media/image78.svg"/><Relationship Id="rId16" Type="http://schemas.openxmlformats.org/officeDocument/2006/relationships/image" Target="../media/image77.png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image" Target="../media/image5.svg"/><Relationship Id="rId10" Type="http://schemas.openxmlformats.org/officeDocument/2006/relationships/image" Target="../media/image76.png"/><Relationship Id="rId1" Type="http://schemas.openxmlformats.org/officeDocument/2006/relationships/image" Target="../media/image2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8.svg"/><Relationship Id="rId6" Type="http://schemas.openxmlformats.org/officeDocument/2006/relationships/image" Target="../media/image87.png"/><Relationship Id="rId5" Type="http://schemas.openxmlformats.org/officeDocument/2006/relationships/image" Target="../media/image86.svg"/><Relationship Id="rId4" Type="http://schemas.openxmlformats.org/officeDocument/2006/relationships/image" Target="../media/image85.png"/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image" Target="../media/image90.svg"/><Relationship Id="rId4" Type="http://schemas.openxmlformats.org/officeDocument/2006/relationships/image" Target="../media/image89.png"/><Relationship Id="rId3" Type="http://schemas.openxmlformats.org/officeDocument/2006/relationships/tags" Target="../tags/tag52.xml"/><Relationship Id="rId21" Type="http://schemas.openxmlformats.org/officeDocument/2006/relationships/notesSlide" Target="../notesSlides/notesSlide25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51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image" Target="../media/image21.svg"/><Relationship Id="rId16" Type="http://schemas.openxmlformats.org/officeDocument/2006/relationships/image" Target="../media/image93.png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image" Target="../media/image92.svg"/><Relationship Id="rId10" Type="http://schemas.openxmlformats.org/officeDocument/2006/relationships/image" Target="../media/image91.png"/><Relationship Id="rId1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921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上位机开发基础</a:t>
            </a:r>
            <a:endParaRPr lang="en-US" sz="7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032000" y="6096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812800" cy="812800"/>
          </a:xfrm>
          <a:prstGeom prst="roundRect">
            <a:avLst>
              <a:gd name="adj" fmla="val 1875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374900"/>
            <a:ext cx="81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82800" y="2095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基础与环境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Python简介、发展历史与设计哲学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环境搭建：uv包管理与VS Code配置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2222500"/>
            <a:ext cx="812800" cy="812800"/>
          </a:xfrm>
          <a:prstGeom prst="roundRect">
            <a:avLst>
              <a:gd name="adj" fmla="val 1875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2374900"/>
            <a:ext cx="81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543800" y="2095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仪器通信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通信基础：上位机与下位机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串口、TCP/IP等多种通信方式实战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635500"/>
            <a:ext cx="812800" cy="812800"/>
          </a:xfrm>
          <a:prstGeom prst="roundRect">
            <a:avLst>
              <a:gd name="adj" fmla="val 1875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4787900"/>
            <a:ext cx="81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82800" y="4508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GUI 开发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PyQt框架介绍与核心概念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光电仪器上位机实战项目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4635500"/>
            <a:ext cx="812800" cy="812800"/>
          </a:xfrm>
          <a:prstGeom prst="roundRect">
            <a:avLst>
              <a:gd name="adj" fmla="val 1875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787900"/>
            <a:ext cx="81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543800" y="4508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学习资源推荐与常用命令速查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第一讲 · 基础与环境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905000"/>
            <a:ext cx="457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Python 发展时间轴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667000"/>
            <a:ext cx="45974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5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1991 ·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0.9.0 发布，包含类、异常处理、函数等核心特性，初具规模。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2000 ·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2.0 版本发布，引入列表推导式与自动垃圾回收(GC)机制。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2008 ·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3.0 版本发布，不完全向后兼容2.x，为语言的长远发展奠基。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2020 ·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2.7版本停止维护，标志着Python 3时代的全面到来。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5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2024 ·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3.13版本发布，带来显著的性能优化，运行速度大幅提升。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27800" y="1905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7747000" y="1968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简介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诞生与发展 / Origin &amp; Development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527800" y="3111500"/>
            <a:ext cx="45974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27800" y="3365500"/>
            <a:ext cx="45974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设计哲学 (Zen of Python)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27800" y="4191000"/>
            <a:ext cx="4597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优美胜于丑陋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(Beautiful is better than ugly.)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明确胜于隐晦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(Explicit is better than implicit.)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简单胜于复杂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(Simple is better than complex.)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 </a:t>
            </a: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可读性至关重要</a:t>
            </a: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(Readability counts.)</a:t>
            </a:r>
            <a:endParaRPr lang="en-US" sz="14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在光电领域的应用场景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635000" cy="635000"/>
          </a:xfrm>
          <a:prstGeom prst="ellipse">
            <a:avLst/>
          </a:prstGeom>
          <a:solidFill>
            <a:srgbClr val="05966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5700" y="21082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05000" y="1905000"/>
            <a:ext cx="190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仪器自动化控制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控制光谱仪、功率计、激光器等精密光电设备，实现无人值守的自动化运行。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699000" y="1968500"/>
            <a:ext cx="635000" cy="635000"/>
          </a:xfrm>
          <a:prstGeom prst="ellipse">
            <a:avLst/>
          </a:prstGeom>
          <a:solidFill>
            <a:srgbClr val="05966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8700" y="21082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1905000"/>
            <a:ext cx="190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数据采集与处理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SciPy 等库进行光谱滤波、去噪及 CCD 图像的数字信号处理。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0" y="1968500"/>
            <a:ext cx="635000" cy="635000"/>
          </a:xfrm>
          <a:prstGeom prst="ellipse">
            <a:avLst/>
          </a:prstGeom>
          <a:solidFill>
            <a:srgbClr val="05966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1700" y="21082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271000" y="1905000"/>
            <a:ext cx="190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光学仿真与建模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Zemax 等专业软件联动，实现光束传输、透镜设计及物理模型模拟。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4508500"/>
            <a:ext cx="635000" cy="635000"/>
          </a:xfrm>
          <a:prstGeom prst="ellipse">
            <a:avLst/>
          </a:prstGeom>
          <a:solidFill>
            <a:srgbClr val="05966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55700" y="46482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4445000"/>
            <a:ext cx="190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机器视觉与检测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 OpenCV 库，利用工业相机完成光学元件的表面缺陷检测和尺寸测量。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445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699000" y="4508500"/>
            <a:ext cx="635000" cy="635000"/>
          </a:xfrm>
          <a:prstGeom prst="ellipse">
            <a:avLst/>
          </a:prstGeom>
          <a:solidFill>
            <a:srgbClr val="05966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38700" y="46482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588000" y="4445000"/>
            <a:ext cx="190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实验数据可视化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Matplotlib 实时绘制光谱曲线、温度热力图等，直观呈现实验结果。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128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382000" y="4508500"/>
            <a:ext cx="635000" cy="635000"/>
          </a:xfrm>
          <a:prstGeom prst="ellipse">
            <a:avLst/>
          </a:prstGeom>
          <a:solidFill>
            <a:srgbClr val="05966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21700" y="46482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271000" y="4445000"/>
            <a:ext cx="1905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深度学习集成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PyTorch 等框架，实现复杂光谱分类识别及激光光束质量的智能评估。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vs MATLAB vs C/C++ 对比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1016000" y="1714500"/>
            <a:ext cx="711200" cy="711200"/>
          </a:xfrm>
          <a:prstGeom prst="roundRect">
            <a:avLst>
              <a:gd name="adj" fmla="val 2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1905000" y="17145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学习难度：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 (上手极快)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开发速度：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 (丰富的标准库)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运行速度：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中等 (可结合C扩展加速)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🖥️ GUI开发：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PyQt (工业级/成熟稳定)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💰 部署成本：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完全免费 (开源生态)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🌍 适用场景：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上位机开发、数据分析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4445000" y="1524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1533" r="68232"/>
          <a:stretch>
            <a:fillRect/>
          </a:stretch>
        </p:blipFill>
        <p:spPr>
          <a:xfrm>
            <a:off x="5079365" y="1714500"/>
            <a:ext cx="382270" cy="711200"/>
          </a:xfrm>
          <a:prstGeom prst="roundRect">
            <a:avLst>
              <a:gd name="adj" fmla="val 2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5588000" y="17145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A58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MATLAB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667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学习难度：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 (数学表达直观)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开发速度：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 (矩阵运算强)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运行速度：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中等 (需编译加速)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🖥️ GUI开发：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 Designer (集成度高)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💰 部署成本：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 (商业软件授权费贵)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🌍 适用场景：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算法快速原型、高校教学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0"/>
            </p:custDataLst>
          </p:nvPr>
        </p:nvSpPr>
        <p:spPr>
          <a:xfrm>
            <a:off x="8128000" y="1524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 l="12471" r="12471"/>
          <a:stretch>
            <a:fillRect/>
          </a:stretch>
        </p:blipFill>
        <p:spPr>
          <a:xfrm>
            <a:off x="8382000" y="1714500"/>
            <a:ext cx="711200" cy="711200"/>
          </a:xfrm>
          <a:prstGeom prst="roundRect">
            <a:avLst>
              <a:gd name="adj" fmla="val 2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9271000" y="1714500"/>
            <a:ext cx="1905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 / C++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667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学习难度：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 (内存管理复杂)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开发速度：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慢 (代码量较大)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运行速度：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极快 (系统级/底层性能)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🖥️ GUI开发：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Qt/MFC (功能强但复杂)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💰 部署成本：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 (开源工具链成熟)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🌍 适用场景：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嵌入式系统、高性能计算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651500"/>
            <a:ext cx="10668000" cy="1016000"/>
          </a:xfrm>
          <a:prstGeom prst="roundRect">
            <a:avLst>
              <a:gd name="adj" fmla="val 1000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500" y="5905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841500" y="5778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最佳实践：下位机用C (如STM32) + 上位机用Python，实现软硬结合的高效开发。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基本语法速览 - 变量与类型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609600"/>
          </a:xfrm>
          <a:prstGeom prst="roundRect">
            <a:avLst>
              <a:gd name="adj" fmla="val 2500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65200" y="1828800"/>
            <a:ext cx="177800" cy="1778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270000" y="1828800"/>
            <a:ext cx="177800" cy="1778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574800" y="1828800"/>
            <a:ext cx="177800" cy="1778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905000" y="1752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variables_demo.py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2413000"/>
            <a:ext cx="4826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1. 定义变量与赋值 (动态类型)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name</a:t>
            </a:r>
            <a:r>
              <a:rPr lang="en-US" sz="13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=</a:t>
            </a:r>
            <a:r>
              <a:rPr lang="en-US" sz="1300" b="0" i="0" u="none" strike="noStrike">
                <a:solidFill>
                  <a:srgbClr val="A7F3D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"OceanOptics"</a:t>
            </a: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str</a:t>
            </a: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 字符串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45720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wavelength</a:t>
            </a:r>
            <a:r>
              <a:rPr lang="en-US" sz="13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=</a:t>
            </a:r>
            <a:r>
              <a:rPr lang="en-US" sz="1300" b="0" i="0" u="none" strike="noStrike">
                <a:solidFill>
                  <a:srgbClr val="FB923C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632.8</a:t>
            </a:r>
            <a:endParaRPr lang="en-US" sz="1300" b="0" i="0" u="none" strike="noStrike">
              <a:solidFill>
                <a:srgbClr val="FB923C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float </a:t>
            </a: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浮点数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45720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channel</a:t>
            </a:r>
            <a:r>
              <a:rPr lang="en-US" sz="13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=</a:t>
            </a:r>
            <a:r>
              <a:rPr lang="en-US" sz="1300" b="0" i="0" u="none" strike="noStrike">
                <a:solidFill>
                  <a:srgbClr val="FB923C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1</a:t>
            </a:r>
            <a:endParaRPr lang="en-US" sz="1300" b="0" i="0" u="none" strike="noStrike">
              <a:solidFill>
                <a:srgbClr val="FB923C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int 整数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45720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is_connected</a:t>
            </a:r>
            <a:r>
              <a:rPr lang="en-US" sz="13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=</a:t>
            </a:r>
            <a:r>
              <a:rPr lang="en-US" sz="1300" b="0" i="0" u="none" strike="noStrike">
                <a:solidFill>
                  <a:srgbClr val="F87171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True</a:t>
            </a: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bool 布尔值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2. 内置函数查看类型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45720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A78BFA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print</a:t>
            </a:r>
            <a:r>
              <a:rPr lang="en-US" sz="13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(type(wavelength))</a:t>
            </a:r>
            <a:r>
              <a:rPr lang="en-US" sz="13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-&gt; &lt;class 'float'&gt;</a:t>
            </a:r>
            <a:endParaRPr lang="en-US" sz="13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6364605" y="107823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8605" y="1433830"/>
            <a:ext cx="558800" cy="558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6"/>
            </p:custDataLst>
          </p:nvPr>
        </p:nvSpPr>
        <p:spPr>
          <a:xfrm>
            <a:off x="7380605" y="126873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动态类型 Dynamic Typing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无需提前声明变量类型，Python 解释器会在运行时自动推断，代码更简洁灵活。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6364605" y="272923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8605" y="308483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7380605" y="291973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强类型 Strong Typing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不同类型间不能随意运算（如字符串与数字相加），需显式转换，减少逻辑错误。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6364605" y="4380230"/>
            <a:ext cx="5080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18605" y="4735830"/>
            <a:ext cx="558800" cy="5588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7380605" y="457073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缩进规范 Indentation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使用缩进来定义代码块结构，而非大括号，强制要求代码风格统一，极大提升可读性。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</a:t>
            </a:r>
            <a:endParaRPr 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4825" y="1416050"/>
            <a:ext cx="10582275" cy="4875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400"/>
              <a:t>IDE（</a:t>
            </a:r>
            <a:r>
              <a:rPr lang="zh-CN" altLang="en-US" sz="2400"/>
              <a:t>集成开发环境，</a:t>
            </a:r>
            <a:r>
              <a:rPr lang="en-US" altLang="zh-CN" sz="2400"/>
              <a:t>Integrated Development Environment）</a:t>
            </a:r>
            <a:r>
              <a:rPr lang="zh-CN" altLang="en-US" sz="2400"/>
              <a:t>是一种将代码编辑、编译/解释、调试、运行和项目管理等功能集成在一起的软件工具。</a:t>
            </a:r>
            <a:endParaRPr lang="zh-CN" altLang="en-US" sz="2400"/>
          </a:p>
          <a:p>
            <a:pPr indent="457200"/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代码编辑器（语法高亮、自动补全）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构建工具（编译/解释执行）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调试器（断点、变量监视）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版本控制集成（</a:t>
            </a:r>
            <a:r>
              <a:rPr lang="en-US" altLang="zh-CN" sz="2400"/>
              <a:t>Git</a:t>
            </a:r>
            <a:r>
              <a:rPr lang="zh-CN" altLang="en-US" sz="2400"/>
              <a:t>等）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插件扩展系统</a:t>
            </a:r>
            <a:endParaRPr lang="zh-CN" altLang="en-US" sz="2400"/>
          </a:p>
          <a:p>
            <a:pPr indent="0">
              <a:buFont typeface="Arial" panose="020B0604020202020204" pitchFamily="34" charset="0"/>
              <a:buNone/>
            </a:pPr>
            <a:endParaRPr lang="en-US" altLang="zh-CN" sz="2400"/>
          </a:p>
          <a:p>
            <a:pPr indent="0">
              <a:buFont typeface="Arial" panose="020B0604020202020204" pitchFamily="34" charset="0"/>
              <a:buNone/>
            </a:pPr>
            <a:endParaRPr lang="en-US" altLang="zh-CN" sz="24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400"/>
              <a:t>IDE </a:t>
            </a:r>
            <a:r>
              <a:rPr lang="zh-CN" altLang="en-US" sz="2400"/>
              <a:t>能极大提升开发效率，尤其是大型项目。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Python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</a:t>
            </a:r>
            <a:endParaRPr 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18704" t="10031" r="15463" b="10537"/>
          <a:stretch>
            <a:fillRect/>
          </a:stretch>
        </p:blipFill>
        <p:spPr>
          <a:xfrm>
            <a:off x="467360" y="1470660"/>
            <a:ext cx="1133475" cy="11779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69110" y="1577975"/>
            <a:ext cx="2613025" cy="82931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l"/>
            <a:r>
              <a:rPr lang="en-US" altLang="zh-CN" sz="44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</a:rPr>
              <a:t>PyCharm</a:t>
            </a:r>
            <a:endParaRPr lang="en-US" altLang="zh-CN" sz="4400" b="1">
              <a:ln w="15875"/>
              <a:gradFill>
                <a:gsLst>
                  <a:gs pos="0">
                    <a:schemeClr val="accent1"/>
                  </a:gs>
                  <a:gs pos="100000">
                    <a:schemeClr val="accent6"/>
                  </a:gs>
                </a:gsLst>
                <a:lin ang="2700000" scaled="0"/>
              </a:gradFill>
              <a:effectLst/>
            </a:endParaRPr>
          </a:p>
        </p:txBody>
      </p:sp>
      <p:pic>
        <p:nvPicPr>
          <p:cNvPr id="8" name="图片 7" descr="1f25b99237912c5ca4fd180970b572b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260" y="1711960"/>
            <a:ext cx="7451725" cy="43472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7175" y="2949575"/>
            <a:ext cx="4125595" cy="316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类型：全功能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IDE（JetBrains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开发）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适合：大型项目、专业开发者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优点：智能代码补全、强大调试、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Django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支持、数据库工具、科学模式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缺点：较占用资源，社区版功能受限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Community（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免费）/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Professional（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付费）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Python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</a:t>
            </a:r>
            <a:endParaRPr 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69110" y="1577975"/>
            <a:ext cx="2613025" cy="829310"/>
          </a:xfrm>
          <a:prstGeom prst="rect">
            <a:avLst/>
          </a:prstGeom>
          <a:ln w="9525" cap="flat" cmpd="sng" algn="ctr">
            <a:noFill/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altLang="zh-CN" sz="4400" b="1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</a:rPr>
              <a:t>Vs</a:t>
            </a:r>
            <a:r>
              <a:rPr lang="en-US" altLang="zh-CN" sz="4400" b="1">
                <a:ln w="15875"/>
                <a:gradFill>
                  <a:gsLst>
                    <a:gs pos="0">
                      <a:schemeClr val="accent1">
                        <a:lumOff val="-19997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7"/>
                      </a:schemeClr>
                    </a:gs>
                  </a:gsLst>
                  <a:lin ang="0" scaled="0"/>
                </a:gradFill>
                <a:effectLst/>
              </a:rPr>
              <a:t>Code</a:t>
            </a:r>
            <a:endParaRPr lang="en-US" altLang="zh-CN" sz="4400" b="1">
              <a:ln w="15875"/>
              <a:gradFill>
                <a:gsLst>
                  <a:gs pos="0">
                    <a:schemeClr val="accent1">
                      <a:lumOff val="-19997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7"/>
                    </a:schemeClr>
                  </a:gs>
                </a:gsLst>
                <a:lin ang="0" scaled="0"/>
              </a:gradFill>
              <a:effectLst/>
            </a:endParaRPr>
          </a:p>
        </p:txBody>
      </p:sp>
      <p:pic>
        <p:nvPicPr>
          <p:cNvPr id="8" name="图片 7" descr="D:/Users/Burce/Desktop/屏幕截图 2026-05-15 001509.png屏幕截图 2026-05-15 001509"/>
          <p:cNvPicPr>
            <a:picLocks noChangeAspect="1"/>
          </p:cNvPicPr>
          <p:nvPr/>
        </p:nvPicPr>
        <p:blipFill>
          <a:blip r:embed="rId2"/>
          <a:srcRect t="3328" b="3328"/>
          <a:stretch>
            <a:fillRect/>
          </a:stretch>
        </p:blipFill>
        <p:spPr>
          <a:xfrm>
            <a:off x="4493260" y="1711960"/>
            <a:ext cx="7451725" cy="43472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7175" y="2949575"/>
            <a:ext cx="4125595" cy="316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类型：轻量级编辑器 +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适合：各种规模项目，全栈开发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优点：启动快、扩展丰富、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集成优秀、终端好用、完全免费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缺点：需要手动配置插件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11474" t="15621"/>
          <a:stretch>
            <a:fillRect/>
          </a:stretch>
        </p:blipFill>
        <p:spPr>
          <a:xfrm>
            <a:off x="424180" y="1413510"/>
            <a:ext cx="1168400" cy="112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Python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</a:t>
            </a:r>
            <a:endParaRPr 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图片 7" descr="D:/Users/Burce/Desktop/ljIySFJRSE1mbGtRalhRZzBjbUJnLzY0MA.pngljIySFJRSE1mbGtRalhRZzBjbUJnLzY0MA"/>
          <p:cNvPicPr>
            <a:picLocks noChangeAspect="1"/>
          </p:cNvPicPr>
          <p:nvPr/>
        </p:nvPicPr>
        <p:blipFill>
          <a:blip r:embed="rId2"/>
          <a:srcRect t="13950" b="13950"/>
          <a:stretch>
            <a:fillRect/>
          </a:stretch>
        </p:blipFill>
        <p:spPr>
          <a:xfrm>
            <a:off x="4493260" y="1711960"/>
            <a:ext cx="7451725" cy="43472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7175" y="2949575"/>
            <a:ext cx="4125595" cy="316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类型：交互式计算环境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适合：数据分析、机器学习、教学演示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优点：支持分块执行、可视化内嵌、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Markdown 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缺点：不适合大型模块化项目，调试较弱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2000" y="1645920"/>
            <a:ext cx="2881630" cy="1303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Python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IDE</a:t>
            </a:r>
            <a:endParaRPr 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69110" y="1577975"/>
            <a:ext cx="2613025" cy="829310"/>
          </a:xfrm>
          <a:prstGeom prst="rect">
            <a:avLst/>
          </a:prstGeom>
          <a:ln w="9525" cap="flat" cmpd="sng" algn="ctr">
            <a:noFill/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none" rtlCol="0" anchor="t">
            <a:noAutofit/>
            <a:scene3d>
              <a:camera prst="orthographicFront"/>
              <a:lightRig rig="threePt" dir="t"/>
            </a:scene3d>
          </a:bodyPr>
          <a:p>
            <a:pPr algn="l"/>
            <a:r>
              <a:rPr lang="en-US" altLang="zh-CN" sz="4400" b="1">
                <a:ln w="15875"/>
                <a:gradFill>
                  <a:gsLst>
                    <a:gs pos="0">
                      <a:schemeClr val="accent1">
                        <a:lumOff val="-19996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6"/>
                      </a:schemeClr>
                    </a:gs>
                  </a:gsLst>
                  <a:lin ang="0" scaled="0"/>
                </a:gradFill>
                <a:effectLst/>
              </a:rPr>
              <a:t>Spyder</a:t>
            </a:r>
            <a:endParaRPr lang="en-US" altLang="zh-CN" sz="4400" b="1">
              <a:ln w="15875"/>
              <a:gradFill>
                <a:gsLst>
                  <a:gs pos="0">
                    <a:schemeClr val="accent1">
                      <a:lumOff val="-19996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6"/>
                    </a:schemeClr>
                  </a:gs>
                </a:gsLst>
                <a:lin ang="0" scaled="0"/>
              </a:gradFill>
              <a:effectLst/>
            </a:endParaRPr>
          </a:p>
        </p:txBody>
      </p:sp>
      <p:pic>
        <p:nvPicPr>
          <p:cNvPr id="8" name="图片 7" descr="D:/Users/Burce/Desktop/屏幕截图 2026-05-15 001509.png屏幕截图 2026-05-15 001509"/>
          <p:cNvPicPr>
            <a:picLocks noChangeAspect="1"/>
          </p:cNvPicPr>
          <p:nvPr/>
        </p:nvPicPr>
        <p:blipFill>
          <a:blip r:embed="rId2"/>
          <a:srcRect t="3328" b="3328"/>
          <a:stretch>
            <a:fillRect/>
          </a:stretch>
        </p:blipFill>
        <p:spPr>
          <a:xfrm>
            <a:off x="4493260" y="1711960"/>
            <a:ext cx="7451725" cy="43472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57175" y="2949575"/>
            <a:ext cx="4125595" cy="3161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类型：科学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IDE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适合：科研、数值分析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优点：变量浏览器、数组查看、集成 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matplotlib</a:t>
            </a: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缺点：通用开发功能较弱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2765" y="1425575"/>
            <a:ext cx="1125220" cy="11334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Python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3890" y="1379220"/>
            <a:ext cx="10927715" cy="195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之所以被称为"内置电池"的语言，很大程度上归功于其强大而丰富的库生态。这套生态可以分为两大类：标准库和第三方库。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/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🔎 标准库：开箱即用的基础工具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官方自带的模块，安装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时就会一并获得。它为开发者提供了最基础、最常用的功能支持。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2219325" y="3429000"/>
          <a:ext cx="7753350" cy="295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6675"/>
                <a:gridCol w="3876675"/>
              </a:tblGrid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分类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常用模块</a:t>
                      </a:r>
                      <a:endParaRPr lang="zh-CN" altLang="en-US" sz="2000"/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操作系统与文件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os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pathlib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shutil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数据处理与类型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datetime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re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json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collections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数学与随机数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math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random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5905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网络与并发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socket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threading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asyncio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Python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3890" y="1226820"/>
            <a:ext cx="10927715" cy="1920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🛠️ 第三方库：无所不能的强大外援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由全球社区开发的外部库，需要通过包管理工具（如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pip）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自行安装。它们覆盖了从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开发到人工智能的几乎所有领域。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buFont typeface="Arial" panose="020B0604020202020204" pitchFamily="34" charset="0"/>
              <a:buNone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当标准库无法满足需求时，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庞大的第三方库生态系统就能派上用场。这些库覆盖了你能想到的几乎所有开发领域。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81025" y="3147060"/>
          <a:ext cx="10848975" cy="3547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545"/>
                <a:gridCol w="3366135"/>
                <a:gridCol w="2367280"/>
                <a:gridCol w="2787015"/>
              </a:tblGrid>
              <a:tr h="4108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应用领域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核心库推荐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应用领域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核心库推荐</a:t>
                      </a:r>
                      <a:endParaRPr lang="zh-CN" altLang="en-US" sz="2000"/>
                    </a:p>
                  </a:txBody>
                  <a:tcPr anchor="ctr" anchorCtr="0"/>
                </a:tc>
              </a:tr>
              <a:tr h="10147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数据科学与</a:t>
                      </a:r>
                      <a:r>
                        <a:rPr lang="zh-CN" altLang="en-US" sz="2000">
                          <a:sym typeface="+mn-ea"/>
                        </a:rPr>
                        <a:t>可视化</a:t>
                      </a:r>
                      <a:endParaRPr lang="zh-CN" altLang="en-US" sz="2000"/>
                    </a:p>
                    <a:p>
                      <a:pPr algn="ctr">
                        <a:buNone/>
                      </a:pP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</a:rPr>
                        <a:t>NumPy, Pandas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  <a:sym typeface="+mn-ea"/>
                        </a:rPr>
                        <a:t>Matplotlib, Pyqtgraph</a:t>
                      </a:r>
                      <a:endParaRPr lang="zh-CN" altLang="en-US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ym typeface="+mn-ea"/>
                        </a:rPr>
                        <a:t>GUI</a:t>
                      </a:r>
                      <a:r>
                        <a:rPr lang="zh-CN" altLang="en-US" sz="2000">
                          <a:sym typeface="+mn-ea"/>
                        </a:rPr>
                        <a:t>图形用户界面</a:t>
                      </a:r>
                      <a:endParaRPr lang="zh-CN" altLang="en-US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  <a:sym typeface="+mn-ea"/>
                        </a:rPr>
                        <a:t>Tkinter</a:t>
                      </a:r>
                      <a:r>
                        <a:rPr lang="zh-CN" altLang="en-US" sz="2000">
                          <a:ea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  <a:sym typeface="+mn-ea"/>
                        </a:rPr>
                        <a:t>PyQT/Pyside</a:t>
                      </a:r>
                      <a:r>
                        <a:rPr lang="zh-CN" altLang="en-US" sz="2000">
                          <a:ea typeface="宋体" panose="02010600030101010101" pitchFamily="2" charset="-122"/>
                          <a:sym typeface="+mn-ea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  <a:sym typeface="+mn-ea"/>
                        </a:rPr>
                        <a:t>Pygame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  <a:p>
                      <a:pPr algn="ctr">
                        <a:buNone/>
                      </a:pPr>
                      <a:endParaRPr lang="zh-CN" altLang="en-US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7073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串口通信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</a:rPr>
                        <a:t>PySerial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SerialLink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EasyCom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ea typeface="宋体" panose="02010600030101010101" pitchFamily="2" charset="-122"/>
                        </a:rPr>
                        <a:t>图像处理</a:t>
                      </a:r>
                      <a:endParaRPr lang="zh-CN" altLang="en-US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</a:rPr>
                        <a:t>OpenCV-Python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</a:rPr>
                        <a:t>scikit-image</a:t>
                      </a:r>
                      <a:r>
                        <a:rPr lang="zh-CN" altLang="en-US" sz="2000"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2000">
                          <a:ea typeface="宋体" panose="02010600030101010101" pitchFamily="2" charset="-122"/>
                          <a:sym typeface="+mn-ea"/>
                        </a:rPr>
                        <a:t>Pillow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7073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机器学习与</a:t>
                      </a:r>
                      <a:r>
                        <a:rPr lang="en-US" altLang="zh-CN" sz="2000"/>
                        <a:t>AI</a:t>
                      </a:r>
                      <a:endParaRPr lang="en-US" altLang="zh-CN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</a:rPr>
                        <a:t>Scikit-learn, TensorFlow, PyTorch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ea typeface="宋体" panose="02010600030101010101" pitchFamily="2" charset="-122"/>
                        </a:rPr>
                        <a:t>自动化与脚本</a:t>
                      </a:r>
                      <a:endParaRPr lang="zh-CN" altLang="en-US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</a:rPr>
                        <a:t>Selenium, PyAutoGUI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  <a:tr h="7073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/>
                        <a:t>Web</a:t>
                      </a:r>
                      <a:r>
                        <a:rPr lang="zh-CN" altLang="en-US" sz="2000"/>
                        <a:t>开发</a:t>
                      </a:r>
                      <a:endParaRPr lang="zh-CN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</a:rPr>
                        <a:t>Django, Flask, FastAPI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ea typeface="宋体" panose="02010600030101010101" pitchFamily="2" charset="-122"/>
                        </a:rPr>
                        <a:t>网络请求与爬虫</a:t>
                      </a:r>
                      <a:endParaRPr lang="zh-CN" altLang="en-US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ea typeface="宋体" panose="02010600030101010101" pitchFamily="2" charset="-122"/>
                        </a:rPr>
                        <a:t>Requests, BeautifulSoup</a:t>
                      </a:r>
                      <a:endParaRPr lang="en-US" altLang="zh-CN" sz="2000">
                        <a:ea typeface="宋体" panose="02010600030101010101" pitchFamily="2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Python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虚拟环境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635" y="1318260"/>
            <a:ext cx="106673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虚拟环境是一个非常实用的工具，简单说，它就是一个独立的、隔离的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运行环境。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可以把它想象成一个“干净的沙盒”。在这个沙盒里，你可以为某个项目单独安装特定版本的库，而不会影响电脑上其他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项目。这很好地解决了不同项目对同一个库有不同版本需求的冲突问题。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2635" y="2578100"/>
            <a:ext cx="5014595" cy="7645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40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为什么需要虚拟环境？</a:t>
            </a:r>
            <a:endParaRPr lang="zh-CN" altLang="en-US" sz="4000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7720" y="3360420"/>
            <a:ext cx="5287645" cy="258445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最主要的理由是解决版本冲突。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假设你手上有两个项目：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A：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需要使用 </a:t>
            </a:r>
            <a:r>
              <a:rPr lang="en-US" altLang="zh-CN" sz="1800">
                <a:ea typeface="宋体" panose="02010600030101010101" pitchFamily="2" charset="-122"/>
                <a:sym typeface="+mn-ea"/>
              </a:rPr>
              <a:t>OpenCV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1.0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B：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需要使用最新的 </a:t>
            </a:r>
            <a:r>
              <a:rPr lang="en-US" altLang="zh-CN" sz="1800">
                <a:ea typeface="宋体" panose="02010600030101010101" pitchFamily="2" charset="-122"/>
                <a:sym typeface="+mn-ea"/>
              </a:rPr>
              <a:t>OpenCV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4.0 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版本。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此外，使用虚拟环境还能：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保持系统环境干净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明确项目依赖</a:t>
            </a:r>
            <a:endParaRPr lang="en-US" altLang="zh-CN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方便协作和管理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95365" y="3360420"/>
            <a:ext cx="5334635" cy="25838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主流的虚拟环境工具：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venv (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内置模块)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conda/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annaconda (</a:t>
            </a:r>
            <a:r>
              <a:rPr lang="zh-CN" altLang="en-US"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适合数据科学)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环境搭建 - </a:t>
            </a: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 Code 配置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uv 进行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</a:t>
            </a:r>
            <a:endParaRPr lang="en-US" sz="1100"/>
          </a:p>
        </p:txBody>
      </p:sp>
      <p:grpSp>
        <p:nvGrpSpPr>
          <p:cNvPr id="24" name="组合 23"/>
          <p:cNvGrpSpPr/>
          <p:nvPr/>
        </p:nvGrpSpPr>
        <p:grpSpPr>
          <a:xfrm>
            <a:off x="6349365" y="1438910"/>
            <a:ext cx="5207000" cy="4572000"/>
            <a:chOff x="1200" y="2600"/>
            <a:chExt cx="8200" cy="7200"/>
          </a:xfrm>
        </p:grpSpPr>
        <p:sp>
          <p:nvSpPr>
            <p:cNvPr id="4" name="AutoShape 4"/>
            <p:cNvSpPr/>
            <p:nvPr/>
          </p:nvSpPr>
          <p:spPr>
            <a:xfrm>
              <a:off x="1200" y="2600"/>
              <a:ext cx="8200" cy="72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5" name="AutoShape 5"/>
            <p:cNvSpPr/>
            <p:nvPr/>
          </p:nvSpPr>
          <p:spPr>
            <a:xfrm>
              <a:off x="1680" y="3080"/>
              <a:ext cx="7200" cy="7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2400" b="1" i="0" u="none" strike="noStrike">
                  <a:solidFill>
                    <a:srgbClr val="0596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为什么选择 uv？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1680" y="4400"/>
              <a:ext cx="3560" cy="2600"/>
            </a:xfrm>
            <a:prstGeom prst="roundRect">
              <a:avLst>
                <a:gd name="adj" fmla="val 6153"/>
              </a:avLst>
            </a:prstGeom>
            <a:solidFill>
              <a:srgbClr val="F0FDF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920" y="4640"/>
              <a:ext cx="560" cy="560"/>
            </a:xfrm>
            <a:prstGeom prst="rect">
              <a:avLst/>
            </a:prstGeom>
          </p:spPr>
        </p:pic>
        <p:sp>
          <p:nvSpPr>
            <p:cNvPr id="8" name="AutoShape 8"/>
            <p:cNvSpPr/>
            <p:nvPr/>
          </p:nvSpPr>
          <p:spPr>
            <a:xfrm>
              <a:off x="2640" y="4600"/>
              <a:ext cx="2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极速安装</a:t>
              </a:r>
              <a:endParaRPr lang="en-US" sz="1100"/>
            </a:p>
            <a:p>
              <a:pPr indent="0" algn="l">
                <a:lnSpc>
                  <a:spcPct val="108000"/>
                </a:lnSpc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性能远超 pip，安装速度提升 10-100 倍，显著节省时间。</a:t>
              </a:r>
              <a:endPara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9" name="AutoShape 9"/>
            <p:cNvSpPr/>
            <p:nvPr/>
          </p:nvSpPr>
          <p:spPr>
            <a:xfrm>
              <a:off x="5520" y="4400"/>
              <a:ext cx="3560" cy="2600"/>
            </a:xfrm>
            <a:prstGeom prst="roundRect">
              <a:avLst>
                <a:gd name="adj" fmla="val 6153"/>
              </a:avLst>
            </a:prstGeom>
            <a:solidFill>
              <a:srgbClr val="F0FDF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60" y="4640"/>
              <a:ext cx="560" cy="560"/>
            </a:xfrm>
            <a:prstGeom prst="rect">
              <a:avLst/>
            </a:prstGeom>
          </p:spPr>
        </p:pic>
        <p:sp>
          <p:nvSpPr>
            <p:cNvPr id="11" name="AutoShape 11"/>
            <p:cNvSpPr/>
            <p:nvPr/>
          </p:nvSpPr>
          <p:spPr>
            <a:xfrm>
              <a:off x="6480" y="4600"/>
              <a:ext cx="2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自动环境管理</a:t>
              </a:r>
              <a:endParaRPr lang="en-US" sz="1100"/>
            </a:p>
            <a:p>
              <a:pPr indent="0" algn="l">
                <a:lnSpc>
                  <a:spcPct val="108000"/>
                </a:lnSpc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无需手动创建，自动隔离项目依赖，简化开发流程。</a:t>
              </a:r>
              <a:endPara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1680" y="7200"/>
              <a:ext cx="3560" cy="2400"/>
            </a:xfrm>
            <a:prstGeom prst="roundRect">
              <a:avLst>
                <a:gd name="adj" fmla="val 6666"/>
              </a:avLst>
            </a:prstGeom>
            <a:solidFill>
              <a:srgbClr val="F0FDF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20" y="7440"/>
              <a:ext cx="560" cy="560"/>
            </a:xfrm>
            <a:prstGeom prst="rect">
              <a:avLst/>
            </a:prstGeom>
          </p:spPr>
        </p:pic>
        <p:sp>
          <p:nvSpPr>
            <p:cNvPr id="14" name="AutoShape 14"/>
            <p:cNvSpPr/>
            <p:nvPr/>
          </p:nvSpPr>
          <p:spPr>
            <a:xfrm>
              <a:off x="2640" y="7400"/>
              <a:ext cx="2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全平台支持</a:t>
              </a:r>
              <a:endParaRPr lang="en-US" sz="1100"/>
            </a:p>
            <a:p>
              <a:pPr indent="0" algn="l">
                <a:lnSpc>
                  <a:spcPct val="108000"/>
                </a:lnSpc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完美兼容 Windows, macOS 和 Linux 系统。</a:t>
              </a:r>
              <a:endPara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  <p:sp>
          <p:nvSpPr>
            <p:cNvPr id="15" name="AutoShape 15"/>
            <p:cNvSpPr/>
            <p:nvPr/>
          </p:nvSpPr>
          <p:spPr>
            <a:xfrm>
              <a:off x="5520" y="7200"/>
              <a:ext cx="3560" cy="2400"/>
            </a:xfrm>
            <a:prstGeom prst="roundRect">
              <a:avLst>
                <a:gd name="adj" fmla="val 6666"/>
              </a:avLst>
            </a:prstGeom>
            <a:solidFill>
              <a:srgbClr val="F0FDF4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760" y="7440"/>
              <a:ext cx="560" cy="560"/>
            </a:xfrm>
            <a:prstGeom prst="rect">
              <a:avLst/>
            </a:prstGeom>
          </p:spPr>
        </p:pic>
        <p:sp>
          <p:nvSpPr>
            <p:cNvPr id="17" name="AutoShape 17"/>
            <p:cNvSpPr/>
            <p:nvPr/>
          </p:nvSpPr>
          <p:spPr>
            <a:xfrm>
              <a:off x="6480" y="7400"/>
              <a:ext cx="2400" cy="18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sz="1600" b="1" i="0" u="none" strike="noStrike">
                  <a:solidFill>
                    <a:srgbClr val="1F2937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内置依赖锁定</a:t>
              </a:r>
              <a:endParaRPr lang="en-US" sz="1100"/>
            </a:p>
            <a:p>
              <a:pPr indent="0" algn="l">
                <a:lnSpc>
                  <a:spcPct val="108000"/>
                </a:lnSpc>
              </a:pPr>
              <a:r>
                <a:rPr lang="en-US" sz="1200" b="0" i="0" u="none" strike="noStrike">
                  <a:solidFill>
                    <a:srgbClr val="4B5563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自动生成锁定文件，确保环境构建的一致性。</a:t>
              </a:r>
              <a:endPara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2620" y="1438910"/>
            <a:ext cx="5207000" cy="4572000"/>
            <a:chOff x="1200" y="2600"/>
            <a:chExt cx="8200" cy="7200"/>
          </a:xfrm>
        </p:grpSpPr>
        <p:sp>
          <p:nvSpPr>
            <p:cNvPr id="20" name="AutoShape 4"/>
            <p:cNvSpPr/>
            <p:nvPr/>
          </p:nvSpPr>
          <p:spPr>
            <a:xfrm>
              <a:off x="1200" y="2600"/>
              <a:ext cx="8200" cy="72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95000"/>
              </a:srgbClr>
            </a:solidFill>
            <a:ln w="12700" cap="flat" cmpd="sng">
              <a:solidFill>
                <a:srgbClr val="E5E7EB">
                  <a:alpha val="100000"/>
                </a:srgbClr>
              </a:solidFill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21" name="AutoShape 5"/>
            <p:cNvSpPr/>
            <p:nvPr/>
          </p:nvSpPr>
          <p:spPr>
            <a:xfrm>
              <a:off x="1680" y="3080"/>
              <a:ext cx="7200" cy="72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zh-CN" altLang="en-US" sz="2400" b="1" i="0" u="none" strike="noStrike">
                  <a:solidFill>
                    <a:srgbClr val="0596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什么</a:t>
              </a:r>
              <a:r>
                <a:rPr lang="en-US" sz="2400" b="1" i="0" u="none" strike="noStrike">
                  <a:solidFill>
                    <a:srgbClr val="0596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 </a:t>
              </a:r>
              <a:r>
                <a:rPr lang="zh-CN" altLang="en-US" sz="2400" b="1" i="0" u="none" strike="noStrike">
                  <a:solidFill>
                    <a:srgbClr val="0596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是</a:t>
              </a:r>
              <a:r>
                <a:rPr lang="en-US" sz="2400" b="1" i="0" u="none" strike="noStrike">
                  <a:solidFill>
                    <a:srgbClr val="059669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rPr>
                <a:t>uv？</a:t>
              </a:r>
              <a:endParaRPr lang="en-US" sz="1100"/>
            </a:p>
          </p:txBody>
        </p:sp>
      </p:grpSp>
      <p:sp>
        <p:nvSpPr>
          <p:cNvPr id="37" name="AutoShape 6"/>
          <p:cNvSpPr/>
          <p:nvPr/>
        </p:nvSpPr>
        <p:spPr>
          <a:xfrm>
            <a:off x="889000" y="2263140"/>
            <a:ext cx="4629785" cy="1828165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/>
        </p:nvSpPr>
        <p:spPr>
          <a:xfrm>
            <a:off x="889000" y="4182745"/>
            <a:ext cx="4629785" cy="1464945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文本框 35"/>
          <p:cNvSpPr txBox="1"/>
          <p:nvPr/>
        </p:nvSpPr>
        <p:spPr>
          <a:xfrm>
            <a:off x="889000" y="2374265"/>
            <a:ext cx="466852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eaLnBrk="1" fontAlgn="auto" latinLnBrk="0" hangingPunct="1">
              <a:lnSpc>
                <a:spcPts val="24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uv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是由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Astral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公司开发的一款用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编写的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包管理器和环境管理器，主要目标是提供比现有工具快 10-100 倍的性能，同时保持简单直观的用户体验。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fontAlgn="auto" latinLnBrk="0" hangingPunct="1">
              <a:lnSpc>
                <a:spcPts val="2400"/>
              </a:lnSpc>
            </a:pP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eaLnBrk="1" fontAlgn="auto" latinLnBrk="0" hangingPunct="1">
              <a:lnSpc>
                <a:spcPts val="24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uv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可以替代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pip、virtualenv、pip-tools、pyenv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等工具，提供依赖管理、虚拟环境创建、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版本管理等一站式服务。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第一个绘图脚本 - 模拟光谱数据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711200"/>
          </a:xfrm>
          <a:prstGeom prst="roundRect">
            <a:avLst>
              <a:gd name="adj" fmla="val 21428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558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30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 (Py</a:t>
            </a: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plot)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667000"/>
            <a:ext cx="4826000" cy="3175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2794000"/>
            <a:ext cx="4572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import matplotlib.pyplot as plt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import numpy as np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# 1. 生成波长范围 400-800</a:t>
            </a: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nm </a:t>
            </a:r>
            <a:r>
              <a:rPr lang="zh-CN" altLang="en-US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的模拟光谱信号</a:t>
            </a:r>
            <a:endParaRPr lang="zh-CN" altLang="en-US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x = np.linspace(-5, 5, 1000)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y = np.sin(x)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# 2. 绘制并设置图表样式</a:t>
            </a:r>
            <a:endParaRPr lang="zh-CN" altLang="en-US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plt.figure(figsize=(10,4)); 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plt.plot(x, y, color="#059669", linewidth=1.5)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plt.xlabel("x ")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plt.ylabel("y")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plt.title("Function sin(x)")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zh-CN" altLang="en-US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# 3. 显示图表</a:t>
            </a:r>
            <a:endParaRPr lang="zh-CN" altLang="en-US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1100" b="0" i="0" u="none" strike="noStrike">
                <a:solidFill>
                  <a:srgbClr val="E5E7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ource Code Pro"/>
              </a:rPr>
              <a:t>plt.show()</a:t>
            </a:r>
            <a:endParaRPr lang="en-US" altLang="zh-CN" sz="1100" b="0" i="0" u="none" strike="noStrike">
              <a:solidFill>
                <a:srgbClr val="E5E7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ource Code Pr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5016500"/>
            <a:ext cx="4699000" cy="952500"/>
          </a:xfrm>
          <a:prstGeom prst="roundRect">
            <a:avLst>
              <a:gd name="adj" fmla="val 10666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527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112000" y="5143500"/>
            <a:ext cx="3937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运行成功验证：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若代码无报错并弹出上图所示的交互式图表窗口，说明您的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NumPy &amp; Matplotlib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环境已配置完成。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1930400"/>
            <a:ext cx="3635375" cy="29743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第二讲 · 仪器通信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通信基础 - 上位机与下位机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476500"/>
            <a:ext cx="393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上位机 (Host Computer)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通常指PC端的控制程序，负责发出指令、处理数据和提供用户界面。在本课程中，特指使用</a:t>
            </a:r>
            <a:r>
              <a:rPr lang="en-US" sz="13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编写的程序。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4381500"/>
            <a:ext cx="393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下位机 (Slave Device)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直接与物理世界交互的嵌入式设备，如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STM32、Arduino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等。它们负责接收指令并执行具体动作（如读取传感器数据、控制电机运转）。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969000"/>
            <a:ext cx="10668000" cy="762000"/>
          </a:xfrm>
          <a:prstGeom prst="roundRect">
            <a:avLst>
              <a:gd name="adj" fmla="val 13333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rcRect t="-432" b="-463"/>
          <a:stretch>
            <a:fillRect/>
          </a:stretch>
        </p:blipFill>
        <p:spPr>
          <a:xfrm>
            <a:off x="6616700" y="897255"/>
            <a:ext cx="4066540" cy="4754245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3" name="AutoShape 13"/>
          <p:cNvSpPr/>
          <p:nvPr/>
        </p:nvSpPr>
        <p:spPr>
          <a:xfrm>
            <a:off x="762000" y="609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上位机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发送指令 →</a:t>
            </a:r>
            <a:r>
              <a:rPr lang="en-US" sz="15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下位机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执行操作 &amp; 返回数据 →</a:t>
            </a:r>
            <a:r>
              <a:rPr lang="en-US" sz="15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上位机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通信基础 - 常见接口总览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3571" r="3571"/>
          <a:stretch>
            <a:fillRect/>
          </a:stretch>
        </p:blipFill>
        <p:spPr>
          <a:xfrm>
            <a:off x="1016000" y="1905000"/>
            <a:ext cx="1651000" cy="1778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921000" y="19685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串口 (RS232/485)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特点：近距离、低成本、工业领域广泛使用，传输稳定可靠。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032000"/>
            <a:ext cx="1143000" cy="1143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874000" y="1968500"/>
            <a:ext cx="330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TCP/IP 网络通信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特点：基于通用网络协议，突破物理距离限制，可实现跨设备、跨网段的灵活互联。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19125" r="19124"/>
          <a:stretch>
            <a:fillRect/>
          </a:stretch>
        </p:blipFill>
        <p:spPr>
          <a:xfrm>
            <a:off x="1016000" y="4445000"/>
            <a:ext cx="1651000" cy="1778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2921000" y="45085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USB 通用串行总线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特点：传输速度快、支持热插拔“即插即用”，广泛应用于工业相机、数据采集卡等外设连接。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18057" r="18057"/>
          <a:stretch>
            <a:fillRect/>
          </a:stretch>
        </p:blipFill>
        <p:spPr>
          <a:xfrm>
            <a:off x="6477000" y="4445000"/>
            <a:ext cx="1651000" cy="1778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382000" y="4508500"/>
            <a:ext cx="2794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GPIB 通用接口总线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特点：传统精密仪器的专用通信标准，通信稳定，需搭配专用板卡，硬件成本相对较高。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PySerial 串口通信 - 核心参数与基础操作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955800"/>
            <a:ext cx="4597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🔧 核心通信参数配置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66800" y="2667000"/>
            <a:ext cx="4597400" cy="7112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9200" y="2819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676400" y="27686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波特率 (Baudrate)：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通信速率，决定传输快慢，常见值为 9600, 115200。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1066800" y="3556000"/>
            <a:ext cx="4597400" cy="7112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19200" y="3708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1676400" y="36576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数据位 &amp; 停止位：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数据位通常为8位，停止位通常为1位，定义数据帧结构。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1066800" y="4445000"/>
            <a:ext cx="4597400" cy="711200"/>
          </a:xfrm>
          <a:prstGeom prst="roundRect">
            <a:avLst>
              <a:gd name="adj" fmla="val 14285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19200" y="4597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7"/>
            </p:custDataLst>
          </p:nvPr>
        </p:nvSpPr>
        <p:spPr>
          <a:xfrm>
            <a:off x="1676400" y="45466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校验位 (Parity)：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用于检错，常见配置为 None (无校验)。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1066800" y="5334000"/>
            <a:ext cx="4597400" cy="711200"/>
          </a:xfrm>
          <a:prstGeom prst="roundRect">
            <a:avLst>
              <a:gd name="adj" fmla="val 1428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19200" y="54864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2"/>
            </p:custDataLst>
          </p:nvPr>
        </p:nvSpPr>
        <p:spPr>
          <a:xfrm>
            <a:off x="1676400" y="5435600"/>
            <a:ext cx="381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超时 (Timeout)：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设置读取操作的最大等待时间（秒），防止程序卡死。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27800" y="1955800"/>
            <a:ext cx="45974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完整通信代码示例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27800" y="2667000"/>
            <a:ext cx="4597400" cy="3175000"/>
          </a:xfrm>
          <a:prstGeom prst="roundRect">
            <a:avLst>
              <a:gd name="adj" fmla="val 3200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54800" y="2794000"/>
            <a:ext cx="43434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1. 导入库并初始化串口对象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084FC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import</a:t>
            </a: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serial</a:t>
            </a:r>
            <a:endParaRPr lang="en-US" sz="1200" b="0" i="0" u="none" strike="noStrike">
              <a:solidFill>
                <a:srgbClr val="D1D5DB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ser = serial.Serial(</a:t>
            </a:r>
            <a:r>
              <a:rPr lang="en-US" sz="1200" b="0" i="0" u="none" strike="noStrike">
                <a:solidFill>
                  <a:srgbClr val="A7F3D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"COM3"</a:t>
            </a: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, 115200, timeout=1)</a:t>
            </a:r>
            <a:endParaRPr lang="en-US" sz="1200" b="0" i="0" u="none" strike="noStrike">
              <a:solidFill>
                <a:srgbClr val="D1D5DB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2. 发送指令 (需编码为字节流)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ser.write(b</a:t>
            </a:r>
            <a:r>
              <a:rPr lang="en-US" sz="1200" b="0" i="0" u="none" strike="noStrike">
                <a:solidFill>
                  <a:srgbClr val="F87171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"MEASURE\r\n"</a:t>
            </a: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)</a:t>
            </a:r>
            <a:endParaRPr lang="en-US" sz="1200" b="0" i="0" u="none" strike="noStrike">
              <a:solidFill>
                <a:srgbClr val="D1D5DB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3. 读取响应并解码为字符串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data = ser.readline().decode().strip()</a:t>
            </a:r>
            <a:endParaRPr lang="en-US" sz="1200" b="0" i="0" u="none" strike="noStrike">
              <a:solidFill>
                <a:srgbClr val="D1D5DB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FBBF24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print</a:t>
            </a: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(f</a:t>
            </a:r>
            <a:r>
              <a:rPr lang="en-US" sz="1200" b="0" i="0" u="none" strike="noStrike">
                <a:solidFill>
                  <a:srgbClr val="F87171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"Received: {data}"</a:t>
            </a: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)</a:t>
            </a:r>
            <a:endParaRPr lang="en-US" sz="1200" b="0" i="0" u="none" strike="noStrike">
              <a:solidFill>
                <a:srgbClr val="D1D5DB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# 4. 关闭串口释放资源</a:t>
            </a:r>
            <a:endParaRPr lang="en-US" sz="1200" b="0" i="0" u="none" strike="noStrike">
              <a:solidFill>
                <a:srgbClr val="6B7280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D1D5DB"/>
                </a:solidFill>
                <a:latin typeface="Times New Roman" panose="02020603050405020304" charset="0"/>
                <a:ea typeface="Source Code Pro"/>
                <a:cs typeface="Times New Roman" panose="02020603050405020304" charset="0"/>
                <a:sym typeface="Source Code Pro"/>
              </a:rPr>
              <a:t>ser.close()</a:t>
            </a:r>
            <a:endParaRPr lang="en-US" sz="1200" b="0" i="0" u="none" strike="noStrike">
              <a:solidFill>
                <a:srgbClr val="D1D5DB"/>
              </a:solidFill>
              <a:latin typeface="Times New Roman" panose="02020603050405020304" charset="0"/>
              <a:ea typeface="Source Code Pro"/>
              <a:cs typeface="Times New Roman" panose="02020603050405020304" charset="0"/>
              <a:sym typeface="Source Code P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PySerial 串口通信 - 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数据帧（通信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协议）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1483360"/>
            <a:ext cx="11146790" cy="2195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zh-CN" altLang="en-US" sz="2400"/>
              <a:t>数据帧是为了解决“原始字节流在传输中会出错”这个问题而设计的“</a:t>
            </a:r>
            <a:r>
              <a:rPr lang="zh-CN" altLang="en-US" sz="2400" b="1"/>
              <a:t>数据包装规范</a:t>
            </a:r>
            <a:r>
              <a:rPr lang="zh-CN" altLang="en-US" sz="2400"/>
              <a:t>”。</a:t>
            </a:r>
            <a:endParaRPr lang="zh-CN" altLang="en-US" sz="2400"/>
          </a:p>
          <a:p>
            <a:pPr indent="457200"/>
            <a:r>
              <a:rPr lang="zh-CN" altLang="en-US" sz="2400">
                <a:sym typeface="+mn-ea"/>
              </a:rPr>
              <a:t>数据帧就是通讯双方事先约定好的数据打包格式。它像一封“信件”，除了信纸（有效数据）之外，还必须包含信封（地址、校验码）、开头语（帧头）和结束语（帧尾）。</a:t>
            </a:r>
            <a:endParaRPr lang="zh-CN" altLang="en-US" sz="2400"/>
          </a:p>
          <a:p>
            <a:endParaRPr lang="zh-CN" altLang="en-US" sz="2400"/>
          </a:p>
        </p:txBody>
      </p:sp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2505075" y="3939540"/>
          <a:ext cx="9605724" cy="10871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436370"/>
                <a:gridCol w="1436370"/>
                <a:gridCol w="1436370"/>
                <a:gridCol w="1436370"/>
                <a:gridCol w="1436370"/>
              </a:tblGrid>
              <a:tr h="487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帧头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R="137160" marT="137160" marB="137160">
                    <a:lnL>
                      <a:noFill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571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控制域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571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数据域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571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校验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571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charset="-122"/>
                          <a:ea typeface="微软雅黑" panose="020B0503020204020204" charset="-122"/>
                        </a:rPr>
                        <a:t>帧尾</a:t>
                      </a:r>
                      <a:endParaRPr lang="zh-CN" altLang="en-US" sz="2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>
                      <a:noFill/>
                    </a:lnT>
                    <a:lnB w="5715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876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charset="0"/>
                        </a:rPr>
                        <a:t>0x01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137160" marR="137160" marT="137160" marB="137160">
                    <a:lnL>
                      <a:noFill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 w="5715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charset="0"/>
                        </a:rPr>
                        <a:t>0x03 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 w="5715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charset="0"/>
                        </a:rPr>
                        <a:t>0x0A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 w="5715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charset="0"/>
                        </a:rPr>
                        <a:t>0x84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 w="5715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 charset="0"/>
                        </a:rPr>
                        <a:t>0x00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 charset="0"/>
                      </a:endParaRPr>
                    </a:p>
                  </a:txBody>
                  <a:tcPr marL="137160" marR="137160" marT="137160" marB="137160">
                    <a:lnL w="57150">
                      <a:solidFill>
                        <a:schemeClr val="bg1"/>
                      </a:solidFill>
                      <a:prstDash val="solid"/>
                    </a:lnL>
                    <a:lnR w="57150">
                      <a:solidFill>
                        <a:schemeClr val="bg1"/>
                      </a:solidFill>
                      <a:prstDash val="solid"/>
                    </a:lnR>
                    <a:lnT w="57150">
                      <a:solidFill>
                        <a:schemeClr val="bg1"/>
                      </a:solidFill>
                      <a:prstDash val="soli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第三讲 · GUI开发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GUI概述与框架对比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67309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2225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为什么需要 GUI？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9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1270" y="2768600"/>
            <a:ext cx="152273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可视化操作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提供直观的按钮、图表和输入框，所见即所得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4000" y="2794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238500" y="27686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易用性强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降低使用门槛，让非专业人员也能操作复杂仪器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2495" y="279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03495" y="27686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动态显示采集数据和设备状态，及时反馈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rcRect l="800" t="696" r="1020" b="-189"/>
          <a:stretch>
            <a:fillRect/>
          </a:stretch>
        </p:blipFill>
        <p:spPr>
          <a:xfrm>
            <a:off x="6829425" y="706120"/>
            <a:ext cx="3973830" cy="3383280"/>
          </a:xfrm>
          <a:prstGeom prst="roundRect">
            <a:avLst>
              <a:gd name="adj" fmla="val 75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grpSp>
        <p:nvGrpSpPr>
          <p:cNvPr id="24" name="组合 23"/>
          <p:cNvGrpSpPr/>
          <p:nvPr/>
        </p:nvGrpSpPr>
        <p:grpSpPr>
          <a:xfrm>
            <a:off x="1149985" y="4318000"/>
            <a:ext cx="9892030" cy="1651000"/>
            <a:chOff x="1200" y="6800"/>
            <a:chExt cx="12024" cy="2600"/>
          </a:xfrm>
        </p:grpSpPr>
        <p:grpSp>
          <p:nvGrpSpPr>
            <p:cNvPr id="23" name="组合 22"/>
            <p:cNvGrpSpPr/>
            <p:nvPr/>
          </p:nvGrpSpPr>
          <p:grpSpPr>
            <a:xfrm>
              <a:off x="1200" y="6800"/>
              <a:ext cx="5600" cy="2600"/>
              <a:chOff x="1200" y="6800"/>
              <a:chExt cx="5600" cy="2600"/>
            </a:xfrm>
          </p:grpSpPr>
          <p:sp>
            <p:nvSpPr>
              <p:cNvPr id="14" name="AutoShape 14"/>
              <p:cNvSpPr/>
              <p:nvPr/>
            </p:nvSpPr>
            <p:spPr>
              <a:xfrm>
                <a:off x="1200" y="6800"/>
                <a:ext cx="5600" cy="2600"/>
              </a:xfrm>
              <a:prstGeom prst="roundRect">
                <a:avLst>
                  <a:gd name="adj" fmla="val 923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  <a:effectLst>
                <a:outerShdw blurRad="444500" dist="190500" dir="2700000" algn="tl" rotWithShape="0">
                  <a:srgbClr val="000000">
                    <a:alpha val="25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15" name="AutoShape 15"/>
              <p:cNvSpPr/>
              <p:nvPr/>
            </p:nvSpPr>
            <p:spPr>
              <a:xfrm>
                <a:off x="1400" y="7000"/>
                <a:ext cx="5200" cy="2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2000" b="1" i="0" u="none" strike="noStrike">
                    <a:solidFill>
                      <a:srgbClr val="059669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PyQt/</a:t>
                </a:r>
                <a:r>
                  <a:rPr lang="en-US" sz="2000" b="1">
                    <a:solidFill>
                      <a:srgbClr val="F59E0B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PySide</a:t>
                </a:r>
                <a:endParaRPr lang="en-US" sz="2000" b="1">
                  <a:solidFill>
                    <a:srgbClr val="F59E0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b="1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优势：</a:t>
                </a:r>
                <a:r>
                  <a:rPr lang="en-US" b="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功能全面、工业级标准、跨平台、控件丰富。</a:t>
                </a:r>
                <a:endParaRPr lang="en-US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indent="0" algn="l">
                  <a:lnSpc>
                    <a:spcPct val="100000"/>
                  </a:lnSpc>
                </a:pPr>
                <a:r>
                  <a:rPr lang="en-US" b="1" i="0" u="none" strike="noStrike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劣势：</a:t>
                </a:r>
                <a:r>
                  <a:rPr lang="en-US" b="0" i="0" u="none" strike="noStrike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学习曲线稍陡，需掌握一定面向对象知识。</a:t>
                </a:r>
                <a:endParaRPr lang="en-US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7624" y="6800"/>
              <a:ext cx="5600" cy="2600"/>
              <a:chOff x="6800" y="6800"/>
              <a:chExt cx="5600" cy="2600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800" y="6800"/>
                <a:ext cx="5600" cy="2600"/>
              </a:xfrm>
              <a:prstGeom prst="roundRect">
                <a:avLst>
                  <a:gd name="adj" fmla="val 9230"/>
                </a:avLst>
              </a:prstGeom>
              <a:solidFill>
                <a:srgbClr val="FFFFFF">
                  <a:alpha val="100000"/>
                </a:srgbClr>
              </a:solidFill>
              <a:ln w="25400" cap="flat" cmpd="sng">
                <a:noFill/>
                <a:prstDash val="solid"/>
                <a:round/>
              </a:ln>
              <a:effectLst>
                <a:outerShdw blurRad="444500" dist="190500" dir="2700000" algn="tl" rotWithShape="0">
                  <a:srgbClr val="000000">
                    <a:alpha val="25000"/>
                  </a:srgbClr>
                </a:outerShdw>
              </a:effectLst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7000" y="7000"/>
                <a:ext cx="5200" cy="2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indent="0" algn="l">
                  <a:lnSpc>
                    <a:spcPct val="125000"/>
                  </a:lnSpc>
                  <a:defRPr/>
                </a:pPr>
                <a:r>
                  <a:rPr lang="en-US" sz="2000" b="1" i="0" u="none" strike="noStrike">
                    <a:solidFill>
                      <a:srgbClr val="2563EB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Tkinter</a:t>
                </a:r>
                <a:endParaRPr lang="en-US"/>
              </a:p>
              <a:p>
                <a:pPr indent="0" algn="l">
                  <a:lnSpc>
                    <a:spcPct val="100000"/>
                  </a:lnSpc>
                </a:pPr>
                <a:r>
                  <a:rPr lang="en-US" b="1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优势：</a:t>
                </a:r>
                <a:r>
                  <a:rPr lang="en-US" b="0" i="0" u="none" strike="noStrike">
                    <a:solidFill>
                      <a:srgbClr val="374151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Python内置、轻量、学习成本极低，适合入门。</a:t>
                </a:r>
                <a:endParaRPr lang="en-US" b="0" i="0" u="none" strike="noStrike">
                  <a:solidFill>
                    <a:srgbClr val="374151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  <a:p>
                <a:pPr indent="0" algn="l">
                  <a:lnSpc>
                    <a:spcPct val="100000"/>
                  </a:lnSpc>
                </a:pPr>
                <a:r>
                  <a:rPr lang="en-US" b="1" i="0" u="none" strike="noStrike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劣势：</a:t>
                </a:r>
                <a:r>
                  <a:rPr lang="en-US" b="0" i="0" u="none" strike="noStrike">
                    <a:solidFill>
                      <a:srgbClr val="6B7280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rPr>
                  <a:t>默认界面风格较简陋，定制化难度大。</a:t>
                </a:r>
                <a:endParaRPr lang="en-US" b="0" i="0" u="none" strike="noStrike">
                  <a:solidFill>
                    <a:srgbClr val="6B728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endParaRPr>
              </a:p>
            </p:txBody>
          </p:sp>
        </p:grpSp>
      </p:grpSp>
      <p:sp>
        <p:nvSpPr>
          <p:cNvPr id="20" name="AutoShape 20"/>
          <p:cNvSpPr/>
          <p:nvPr/>
        </p:nvSpPr>
        <p:spPr>
          <a:xfrm>
            <a:off x="762000" y="6096000"/>
            <a:ext cx="10668000" cy="571500"/>
          </a:xfrm>
          <a:prstGeom prst="roundRect">
            <a:avLst>
              <a:gd name="adj" fmla="val 17777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61976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结论：我们选择 PyQt5/6，因为它提供了最完整、专业且成熟的工业级解决方案。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PyQt 基础 - 核心概念与信号槽机制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1841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控件 (Widgets)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构成界面的基本元素，如按钮(QPushButton)、标签(QLabel)、图表(PyQtGraph)等。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655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683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35560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布局 (Layouts)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用于管理控件的排列方式，解决界面适配问题。常用：垂直布局(QVBoxLayout)、网格布局(QGridLayout)。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50800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ECFDF5">
              <a:alpha val="95000"/>
            </a:srgbClr>
          </a:solidFill>
          <a:ln w="12700" cap="flat" cmpd="sng">
            <a:solidFill>
              <a:srgbClr val="059669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397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52705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4E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信号与槽 (Signal &amp; Slot)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 核心机制。事件发生时发出“信号”，连接到处理函数“槽”，实现界面与逻辑的解耦。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72000" y="1651000"/>
            <a:ext cx="6858000" cy="4889500"/>
          </a:xfrm>
          <a:prstGeom prst="roundRect">
            <a:avLst>
              <a:gd name="adj" fmla="val 3116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72000" y="1651000"/>
            <a:ext cx="6858000" cy="698500"/>
          </a:xfrm>
          <a:prstGeom prst="roundRect">
            <a:avLst>
              <a:gd name="adj" fmla="val 21818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26000" y="18034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信号槽核心代码示例 (Python)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2603500"/>
            <a:ext cx="6350000" cy="368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# 1. 导入必要的库</a:t>
            </a:r>
            <a:endParaRPr lang="en-US" sz="11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from</a:t>
            </a: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PyQt5.QtWidgets</a:t>
            </a:r>
            <a:r>
              <a:rPr lang="en-US" sz="1300" b="0" i="0" u="none" strike="noStrike">
                <a:solidFill>
                  <a:srgbClr val="C084FC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import</a:t>
            </a:r>
            <a:r>
              <a:rPr lang="en-US" sz="1300" b="0" i="0" u="none" strike="noStrike">
                <a:solidFill>
                  <a:srgbClr val="F472B6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QPushButton</a:t>
            </a:r>
            <a:endParaRPr lang="en-US" sz="1300" b="0" i="0" u="none" strike="noStrike">
              <a:solidFill>
                <a:srgbClr val="F472B6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94A3B8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# 2. 创建按钮控件实例</a:t>
            </a:r>
            <a:endParaRPr lang="en-US" sz="1300" b="0" i="0" u="none" strike="noStrike">
              <a:solidFill>
                <a:srgbClr val="94A3B8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btn =</a:t>
            </a:r>
            <a:r>
              <a:rPr lang="en-US" sz="1300" b="0" i="0" u="none" strike="noStrike">
                <a:solidFill>
                  <a:srgbClr val="F472B6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QPushButton</a:t>
            </a: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(</a:t>
            </a:r>
            <a:r>
              <a:rPr lang="en-US" sz="1300" b="0" i="0" u="none" strike="noStrike">
                <a:solidFill>
                  <a:srgbClr val="A7F3D0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"开始测量"</a:t>
            </a: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)</a:t>
            </a:r>
            <a:endParaRPr lang="en-US" sz="1300" b="0" i="0" u="none" strike="noStrike">
              <a:solidFill>
                <a:srgbClr val="F1F5F9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94A3B8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# 3. 定义一个“槽”函数，处理点击事件</a:t>
            </a:r>
            <a:endParaRPr lang="en-US" sz="1300" b="0" i="0" u="none" strike="noStrike">
              <a:solidFill>
                <a:srgbClr val="94A3B8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def</a:t>
            </a:r>
            <a:r>
              <a:rPr lang="en-US" sz="1300" b="0" i="0" u="none" strike="noStrike">
                <a:solidFill>
                  <a:srgbClr val="60A5FA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on_button_clicked</a:t>
            </a: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():</a:t>
            </a:r>
            <a:endParaRPr lang="en-US" sz="1300" b="0" i="0" u="none" strike="noStrike">
              <a:solidFill>
                <a:srgbClr val="F1F5F9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marL="25400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print(</a:t>
            </a:r>
            <a:r>
              <a:rPr lang="en-US" sz="1300" b="0" i="0" u="none" strike="noStrike">
                <a:solidFill>
                  <a:srgbClr val="A7F3D0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"点击了按钮，开始执行测量任务！"</a:t>
            </a: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)</a:t>
            </a:r>
            <a:endParaRPr lang="en-US" sz="1300" b="0" i="0" u="none" strike="noStrike">
              <a:solidFill>
                <a:srgbClr val="F1F5F9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94A3B8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# 4. 核心：将按钮的“点击信号”连接到“槽函数”</a:t>
            </a:r>
            <a:endParaRPr lang="en-US" sz="1300" b="0" i="0" u="none" strike="noStrike">
              <a:solidFill>
                <a:srgbClr val="94A3B8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btn.clicked.connect(</a:t>
            </a:r>
            <a:r>
              <a:rPr lang="en-US" sz="1300" b="0" i="0" u="none" strike="noStrike">
                <a:solidFill>
                  <a:srgbClr val="60A5FA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on_button_clicked</a:t>
            </a:r>
            <a:r>
              <a:rPr lang="en-US" sz="1300" b="0" i="0" u="none" strike="noStrike">
                <a:solidFill>
                  <a:srgbClr val="F1F5F9"/>
                </a:solidFill>
                <a:latin typeface="Times New Roman" panose="02020603050405020304" charset="0"/>
                <a:ea typeface="Roboto Mono"/>
                <a:cs typeface="Times New Roman" panose="02020603050405020304" charset="0"/>
                <a:sym typeface="Roboto Mono"/>
              </a:rPr>
              <a:t>)</a:t>
            </a:r>
            <a:endParaRPr lang="en-US" sz="1300" b="0" i="0" u="none" strike="noStrike">
              <a:solidFill>
                <a:srgbClr val="F1F5F9"/>
              </a:solidFill>
              <a:latin typeface="Times New Roman" panose="02020603050405020304" charset="0"/>
              <a:ea typeface="Roboto Mono"/>
              <a:cs typeface="Times New Roman" panose="02020603050405020304" charset="0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温度检测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266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18796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通信区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16000" y="2540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串口选择下拉框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连接 / 断开设备按钮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3683000" y="1651000"/>
            <a:ext cx="266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37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4445000" y="18796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控制区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3937000" y="2540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关键参数设置输入框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(如积分时间、增益)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启动测量 / 停止按钮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762000" y="4127500"/>
            <a:ext cx="266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1524000" y="43561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显示区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1016000" y="5016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实时光谱曲线动态绘制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关键指标数据显示标签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20"/>
            </p:custDataLst>
          </p:nvPr>
        </p:nvSpPr>
        <p:spPr>
          <a:xfrm>
            <a:off x="3683000" y="4127500"/>
            <a:ext cx="266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937000" y="4381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24"/>
            </p:custDataLst>
          </p:nvPr>
        </p:nvSpPr>
        <p:spPr>
          <a:xfrm>
            <a:off x="4445000" y="4356100"/>
            <a:ext cx="165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数据区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5"/>
            </p:custDataLst>
          </p:nvPr>
        </p:nvSpPr>
        <p:spPr>
          <a:xfrm>
            <a:off x="3937000" y="50165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数据保存 / 导出为CSV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历史测量记录列表查询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6"/>
          <a:srcRect t="8467" b="8467"/>
          <a:stretch>
            <a:fillRect/>
          </a:stretch>
        </p:blipFill>
        <p:spPr>
          <a:xfrm>
            <a:off x="6604000" y="1651000"/>
            <a:ext cx="4826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604000" y="4318000"/>
            <a:ext cx="4826000" cy="2032000"/>
          </a:xfrm>
          <a:prstGeom prst="roundRect">
            <a:avLst>
              <a:gd name="adj" fmla="val 75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858000" y="450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关键技术难点与解决方案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50800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线程管理：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QThread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实现数据采集与UI主线程分离，防止长时间阻塞导致界面无响应。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高性能绘图：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PyQtGraph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库，实现海量光谱数据毫秒级刷新与实时渲染。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 ：学习资源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974852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828800"/>
            <a:ext cx="50800" cy="304800"/>
          </a:xfrm>
          <a:prstGeom prst="roundRect">
            <a:avLst>
              <a:gd name="adj" fmla="val 0"/>
            </a:avLst>
          </a:prstGeom>
          <a:solidFill>
            <a:srgbClr val="05966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17780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推荐资源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838708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2857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667000"/>
            <a:ext cx="657288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官方文档 (Docs)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Python, PyQt5, PySerial, NumPy, Matplotlib 等库的官方文档是最权威的学习资料。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8387715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41275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05000" y="3937000"/>
            <a:ext cx="657415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视频教程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B站搜索 “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林粒粒呀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 (Python基础入门)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B站搜索 “</a:t>
            </a:r>
            <a:r>
              <a:rPr lang="zh-CN" alt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白月黑羽编程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 (Py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thon Qt 界面开发实战)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5080000"/>
            <a:ext cx="8387715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5397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207000"/>
            <a:ext cx="657415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实战项目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附录 ：常用命令速查表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82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524000" y="20320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uv 常用命令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1089660" y="2794000"/>
            <a:ext cx="278384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uv init </a:t>
            </a:r>
            <a:r>
              <a:rPr lang="en-US" sz="1600" b="0" i="0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Source Code Pro"/>
                <a:sym typeface="Source Code Pro"/>
              </a:rPr>
              <a:t>项目名</a:t>
            </a:r>
            <a:r>
              <a:rPr lang="en-US" sz="1600" b="0" i="0">
                <a:solidFill>
                  <a:srgbClr val="4B5563"/>
                </a:solidFill>
                <a:latin typeface="Times New Roman" panose="02020603050405020304" charset="0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: 创建新项目和虚拟环境</a:t>
            </a:r>
            <a:endParaRPr lang="en-US">
              <a:latin typeface="Times New Roman" panose="02020603050405020304" charset="0"/>
              <a:ea typeface="微软雅黑" panose="020B0503020204020204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uv add 包名</a:t>
            </a:r>
            <a:r>
              <a:rPr lang="en-US" sz="1600" b="0" i="0">
                <a:solidFill>
                  <a:srgbClr val="4B5563"/>
                </a:solidFill>
                <a:latin typeface="Times New Roman" panose="02020603050405020304" charset="0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: 安装依赖包</a:t>
            </a:r>
            <a:endParaRPr lang="en-US" sz="1600" b="0" i="0">
              <a:solidFill>
                <a:srgbClr val="4B5563"/>
              </a:solidFill>
              <a:latin typeface="Times New Roman" panose="02020603050405020304" charset="0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uv run python main.py</a:t>
            </a:r>
            <a:r>
              <a:rPr lang="en-US" sz="1600" b="0" i="0">
                <a:solidFill>
                  <a:srgbClr val="4B5563"/>
                </a:solidFill>
                <a:latin typeface="Times New Roman" panose="02020603050405020304" charset="0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: 在虚拟环境中运行脚本</a:t>
            </a:r>
            <a:endParaRPr lang="en-US" sz="1600" b="0" i="0">
              <a:solidFill>
                <a:srgbClr val="4B5563"/>
              </a:solidFill>
              <a:latin typeface="Times New Roman" panose="02020603050405020304" charset="0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uv sync</a:t>
            </a:r>
            <a:r>
              <a:rPr lang="en-US" sz="1600" b="0" i="0">
                <a:solidFill>
                  <a:srgbClr val="4B5563"/>
                </a:solidFill>
                <a:latin typeface="Times New Roman" panose="02020603050405020304" charset="0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: 根据 lockfile 同步依赖</a:t>
            </a:r>
            <a:endParaRPr lang="en-US" sz="1600" b="0" i="0">
              <a:solidFill>
                <a:srgbClr val="4B5563"/>
              </a:solidFill>
              <a:latin typeface="Times New Roman" panose="02020603050405020304" charset="0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99000" y="20828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5207000" y="20320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pip 常用命令 (备用)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4698365" y="2794000"/>
            <a:ext cx="2858135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pip install 包名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安装包</a:t>
            </a:r>
            <a:endParaRPr lang="en-US" sz="1600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pip list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查看已安装包</a:t>
            </a:r>
            <a:endParaRPr lang="en-US" sz="1600" b="0" i="0" u="none" strike="noStrike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pip freeze &gt; requirements.txt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导出依赖列表</a:t>
            </a:r>
            <a:endParaRPr lang="en-US" sz="1600" b="0" i="0" u="none" strike="noStrike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pip uninstall 包名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卸载指定包</a:t>
            </a:r>
            <a:endParaRPr lang="en-US" sz="1600" b="0" i="0" u="none" strike="noStrike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4"/>
            </p:custDataLst>
          </p:nvPr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82000" y="20828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8890000" y="20320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 Code 常用快捷键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9"/>
            </p:custDataLst>
          </p:nvPr>
        </p:nvSpPr>
        <p:spPr>
          <a:xfrm>
            <a:off x="8382000" y="2794000"/>
            <a:ext cx="2921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Ctrl + Shift + P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打开命令面板</a:t>
            </a:r>
            <a:endParaRPr lang="en-US" sz="1600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Ctrl + Shift + X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打开插件市场</a:t>
            </a:r>
            <a:endParaRPr lang="en-US" sz="1600" b="0" i="0" u="none" strike="noStrike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Ctrl + `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打开/新建终端</a:t>
            </a:r>
            <a:endParaRPr lang="en-US" sz="1600" b="0" i="0" u="none" strike="noStrike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F5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启动调试 (Debug)</a:t>
            </a:r>
            <a:endParaRPr lang="en-US" sz="1600" b="0" i="0" u="none" strike="noStrike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Source Code Pro"/>
              </a:rPr>
              <a:t>Ctrl + Shift + F</a:t>
            </a:r>
            <a:r>
              <a:rPr lang="en-US" sz="1600" b="0" i="0" u="none" strike="noStrike">
                <a:solidFill>
                  <a:srgbClr val="1F2937"/>
                </a:solidFill>
                <a:latin typeface="Times New Roman" panose="02020603050405020304" charset="0"/>
                <a:ea typeface="微软雅黑" panose="020B0503020204020204" charset="-122"/>
                <a:cs typeface="Source Code Pro"/>
                <a:sym typeface="Noto Sans SC" panose="020B0200000000000000" charset="-122"/>
              </a:rPr>
              <a:t>: 全局搜索内容</a:t>
            </a:r>
            <a:endParaRPr lang="en-US" sz="1600" b="0" i="0" u="none" strike="noStrike">
              <a:solidFill>
                <a:srgbClr val="1F2937"/>
              </a:solidFill>
              <a:latin typeface="Times New Roman" panose="02020603050405020304" charset="0"/>
              <a:ea typeface="微软雅黑" panose="020B0503020204020204" charset="-122"/>
              <a:cs typeface="Source Code Pro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7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2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3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8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9.xml><?xml version="1.0" encoding="utf-8"?>
<p:tagLst xmlns:p="http://schemas.openxmlformats.org/presentationml/2006/main">
  <p:tag name="KSO_WM_DIAGRAM_VIRTUALLY_FRAME" val="{&quot;height&quot;:310,&quot;left&quot;:60,&quot;top&quot;:120,&quot;width&quot;:840}"/>
</p:tagLst>
</file>

<file path=ppt/tags/tag10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1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2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3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4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5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6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7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8.xml><?xml version="1.0" encoding="utf-8"?>
<p:tagLst xmlns:p="http://schemas.openxmlformats.org/presentationml/2006/main">
  <p:tag name="KSO_WM_DIAGRAM_VIRTUALLY_FRAME" val="{&quot;height&quot;:370,&quot;left&quot;:501.15,&quot;top&quot;:84.9,&quot;width&quot;:400}"/>
</p:tagLst>
</file>

<file path=ppt/tags/tag19.xml><?xml version="1.0" encoding="utf-8"?>
<p:tagLst xmlns:p="http://schemas.openxmlformats.org/presentationml/2006/main">
  <p:tag name="TABLE_ENDDRAG_ORIGIN_RECT" val="610*232"/>
  <p:tag name="TABLE_ENDDRAG_RECT" val="208*270*610*232"/>
</p:tagLst>
</file>

<file path=ppt/tags/tag20.xml><?xml version="1.0" encoding="utf-8"?>
<p:tagLst xmlns:p="http://schemas.openxmlformats.org/presentationml/2006/main">
  <p:tag name="TABLE_ENDDRAG_ORIGIN_RECT" val="851*279"/>
  <p:tag name="TABLE_ENDDRAG_RECT" val="48*247*851*279"/>
</p:tagLst>
</file>

<file path=ppt/tags/tag21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2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3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4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5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6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7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8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29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30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31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32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33.xml><?xml version="1.0" encoding="utf-8"?>
<p:tagLst xmlns:p="http://schemas.openxmlformats.org/presentationml/2006/main">
  <p:tag name="KSO_WM_DIAGRAM_VIRTUALLY_FRAME" val="{&quot;height&quot;:360,&quot;left&quot;:60,&quot;top&quot;:130,&quot;width&quot;:410}"/>
</p:tagLst>
</file>

<file path=ppt/tags/tag34.xml><?xml version="1.0" encoding="utf-8"?>
<p:tagLst xmlns:p="http://schemas.openxmlformats.org/presentationml/2006/main">
  <p:tag name="TABLE_ENDDRAG_ORIGIN_RECT" val="678*69"/>
  <p:tag name="TABLE_ENDDRAG_RECT" val="137*247*678*69"/>
</p:tagLst>
</file>

<file path=ppt/tags/tag35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36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37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38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39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0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1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2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3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4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5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6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7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8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49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50.xml><?xml version="1.0" encoding="utf-8"?>
<p:tagLst xmlns:p="http://schemas.openxmlformats.org/presentationml/2006/main">
  <p:tag name="KSO_WM_DIAGRAM_VIRTUALLY_FRAME" val="{&quot;height&quot;:370,&quot;left&quot;:60,&quot;top&quot;:130,&quot;width&quot;:440}"/>
</p:tagLst>
</file>

<file path=ppt/tags/tag5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3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4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5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6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7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8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59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60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61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ags/tag62.xml><?xml version="1.0" encoding="utf-8"?>
<p:tagLst xmlns:p="http://schemas.openxmlformats.org/presentationml/2006/main">
  <p:tag name="KSO_WM_DIAGRAM_VIRTUALLY_FRAME" val="{&quot;height&quot;:340,&quot;left&quot;:60,&quot;top&quot;:1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6494</Words>
  <Application>WPS 演示</Application>
  <PresentationFormat/>
  <Paragraphs>523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26</vt:i4>
      </vt:variant>
    </vt:vector>
  </HeadingPairs>
  <TitlesOfParts>
    <vt:vector size="51" baseType="lpstr">
      <vt:lpstr>Arial</vt:lpstr>
      <vt:lpstr>宋体</vt:lpstr>
      <vt:lpstr>Wingdings</vt:lpstr>
      <vt:lpstr>Arial</vt:lpstr>
      <vt:lpstr>Noto Sans SC</vt:lpstr>
      <vt:lpstr>Times New Roman</vt:lpstr>
      <vt:lpstr>Source Code Pro</vt:lpstr>
      <vt:lpstr>AMGDT</vt:lpstr>
      <vt:lpstr>微软雅黑</vt:lpstr>
      <vt:lpstr>Arial Unicode MS</vt:lpstr>
      <vt:lpstr>Roboto Mono</vt:lpstr>
      <vt:lpstr>Roboto Mono</vt:lpstr>
      <vt:lpstr>Source Code Pro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9_默认主题</vt:lpstr>
      <vt:lpstr>8_默认主题</vt:lpstr>
      <vt:lpstr>10_默认主题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Zeno</cp:lastModifiedBy>
  <cp:revision>24</cp:revision>
  <dcterms:created xsi:type="dcterms:W3CDTF">2026-05-14T15:02:00Z</dcterms:created>
  <dcterms:modified xsi:type="dcterms:W3CDTF">2026-05-15T05:49:48Z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DD8ABB4FB7D54DDCA816816B0FC431AB_12</vt:lpwstr>
  </property>
  <property fmtid="{D5CDD505-2E9C-101B-9397-08002B2CF9AE}" pid="3" name="KSOProductBuildVer">
    <vt:lpwstr>2052-12.1.0.26375</vt:lpwstr>
  </property>
</Properties>
</file>